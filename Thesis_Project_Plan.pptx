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"/>
            <a:ext cx="2286000" cy="2286000"/>
          </a:xfrm>
          <a:prstGeom prst="ellipse">
            <a:avLst/>
          </a:prstGeom>
          <a:solidFill>
            <a:srgbClr val="7C3AED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2468880"/>
            <a:ext cx="914400" cy="914400"/>
          </a:xfrm>
          <a:prstGeom prst="ellipse">
            <a:avLst/>
          </a:prstGeom>
          <a:solidFill>
            <a:srgbClr val="00D4AA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HUMAN vs.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AA"/>
                </a:solidFill>
                <a:latin typeface="Calibri"/>
              </a:defRPr>
            </a:pPr>
            <a:r>
              <a:t>Analysing the Advancement of AI in Music Mastering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66160"/>
            <a:ext cx="1828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MSc Music and Media Technologies  |  Trinity College Dublin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Michael Adams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Project Plan Presentation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Has AI mastering technology advanced to a point where it is</a:t>
            </a:r>
            <a:br/>
            <a:r>
              <a:t>perceptually indistinguishable from professional human mastering?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1828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This study conducts a rigorous blind comparison between professionally mastered</a:t>
            </a:r>
            <a:br/>
            <a:r>
              <a:t>tracks and AI-mastered equivalents, evaluated by diverse listener groups.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32004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Comparative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Blind A/B testing of human</a:t>
            </a:r>
            <a:br/>
            <a:r>
              <a:t>vs. AI mastered tracks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657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3657600"/>
            <a:ext cx="32004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9319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Perceptual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5720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Listener scoring across</a:t>
            </a:r>
            <a:br/>
            <a:r>
              <a:t>multiple audio quality criteria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657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3657600"/>
            <a:ext cx="320040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9319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Statistical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5720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Data-driven analysis with</a:t>
            </a:r>
            <a:br/>
            <a:r>
              <a:t>diverse participant groups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Five-Stage Research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920240" cy="29260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286000"/>
            <a:ext cx="731520" cy="7315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490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Curate diverse</a:t>
            </a:r>
            <a:br/>
            <a:r>
              <a:t>pre-mastered songs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3108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2011680"/>
            <a:ext cx="1920240" cy="29260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228600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Human Master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7490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Engage professional</a:t>
            </a:r>
            <a:br/>
            <a:r>
              <a:t>mastering engineers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3108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2011680"/>
            <a:ext cx="1920240" cy="29260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94960" y="2286000"/>
            <a:ext cx="731520" cy="731520"/>
          </a:xfrm>
          <a:prstGeom prst="ellipse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AI Master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7490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Process through</a:t>
            </a:r>
            <a:br/>
            <a:r>
              <a:t>leading AI platforms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3108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2011680"/>
            <a:ext cx="1920240" cy="29260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43800" y="2286000"/>
            <a:ext cx="731520" cy="7315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Blind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7490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Structured listening</a:t>
            </a:r>
            <a:br/>
            <a:r>
              <a:t>tests with scoring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3108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011680"/>
            <a:ext cx="1920240" cy="29260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0" y="2286000"/>
            <a:ext cx="731520" cy="731520"/>
          </a:xfrm>
          <a:prstGeom prst="ellipse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Analyse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7490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Statistical analysis</a:t>
            </a:r>
            <a:br/>
            <a:r>
              <a:t>&amp; conclusions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PROJECT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8-Week Plan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70048" cy="411480"/>
          </a:xfrm>
          <a:prstGeom prst="roundRect">
            <a:avLst>
              <a:gd name="adj" fmla="val 1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36976" y="2011680"/>
            <a:ext cx="2670048" cy="41148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16752" y="2011680"/>
            <a:ext cx="2670048" cy="411480"/>
          </a:xfrm>
          <a:prstGeom prst="roundRect">
            <a:avLst>
              <a:gd name="adj" fmla="val 10000"/>
            </a:avLst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96528" y="2011680"/>
            <a:ext cx="2670048" cy="41148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1280160" cy="18288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128016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Calibri"/>
              </a:defRPr>
            </a:pPr>
            <a:r>
              <a:t>WK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8328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Research &amp;</a:t>
            </a:r>
            <a:br/>
            <a:r>
              <a:t>Song Selection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7088" y="2743200"/>
            <a:ext cx="1280160" cy="18288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47088" y="2743200"/>
            <a:ext cx="128016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92808" y="2926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Calibri"/>
              </a:defRPr>
            </a:pPr>
            <a:r>
              <a:t>WK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808" y="338328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Engage</a:t>
            </a:r>
            <a:br/>
            <a:r>
              <a:t>Engineers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36976" y="2743200"/>
            <a:ext cx="1280160" cy="18288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36976" y="2743200"/>
            <a:ext cx="128016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82696" y="2926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Calibri"/>
              </a:defRPr>
            </a:pPr>
            <a:r>
              <a:t>WK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2696" y="338328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AI Mastering</a:t>
            </a:r>
            <a:br/>
            <a:r>
              <a:t>&amp; Test Design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26864" y="2743200"/>
            <a:ext cx="1280160" cy="18288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26864" y="2743200"/>
            <a:ext cx="128016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2584" y="2926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Calibri"/>
              </a:defRPr>
            </a:pPr>
            <a:r>
              <a:t>WK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4" y="338328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Normalise &amp;</a:t>
            </a:r>
            <a:br/>
            <a:r>
              <a:t>Test Prep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16752" y="2743200"/>
            <a:ext cx="1280160" cy="18288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16752" y="2743200"/>
            <a:ext cx="1280160" cy="36576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62472" y="2926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A00"/>
                </a:solidFill>
                <a:latin typeface="Calibri"/>
              </a:defRPr>
            </a:pPr>
            <a:r>
              <a:t>WK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62472" y="338328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Begin Blind</a:t>
            </a:r>
            <a:br/>
            <a:r>
              <a:t>Testing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2743200"/>
            <a:ext cx="1280160" cy="18288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06640" y="2743200"/>
            <a:ext cx="1280160" cy="36576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2926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A00"/>
                </a:solidFill>
                <a:latin typeface="Calibri"/>
              </a:defRPr>
            </a:pPr>
            <a:r>
              <a:t>WK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338328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Complete Tests</a:t>
            </a:r>
            <a:br/>
            <a:r>
              <a:t>&amp; Early Analysis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96528" y="2743200"/>
            <a:ext cx="1280160" cy="18288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96528" y="2743200"/>
            <a:ext cx="128016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42248" y="2926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WK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42248" y="338328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Deep Analysis</a:t>
            </a:r>
            <a:br/>
            <a:r>
              <a:t>&amp; Writing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86416" y="2743200"/>
            <a:ext cx="1280160" cy="18288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86416" y="2743200"/>
            <a:ext cx="128016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32136" y="29260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Calibri"/>
              </a:defRPr>
            </a:pPr>
            <a:r>
              <a:t>WK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32136" y="338328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Conclusions &amp;</a:t>
            </a:r>
            <a:br/>
            <a:r>
              <a:t>Submission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KEY MILESTONES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440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✓  Week 2: Engineers engaged &amp; AI platforms selected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5440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✓  Week 4: All masters collected, normalised &amp; test platform ready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✓  Week 6: All listening tests completed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✓  Week 8: Thesis submitted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WEEKS 1-2  | 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Research, Song Selection &amp; Engineer Engagement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06240"/>
          </a:xfrm>
          <a:prstGeom prst="roundRect">
            <a:avLst>
              <a:gd name="adj" fmla="val 3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12064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Week 1: Research &amp; Song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Survey academic literature on AI mastering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Review prior human vs. AI audio studies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Select 4-6 pre-mastered songs across genres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Ensure genre diversity (rock, electronic, jazz, pop, etc.)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Source high-quality unmastered mixes (24-bit WAV)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Secure permissions for all tracks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Submit ethics application for listening tests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Prepare participant consent forms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06240"/>
          </a:xfrm>
          <a:prstGeom prst="roundRect">
            <a:avLst>
              <a:gd name="adj" fmla="val 3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12064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Week 2: Engage Mastering Engineers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Shortlist 2-3 professional mastering engineers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Contact engineers with academic project brief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Agree timelines, fees &amp; deliverable formats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Prepare standardised mastering briefs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Provide identical source files to all engineers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Request 16-bit/44.1kHz + 24-bit/48kHz masters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Identify 2-3 AI mastering platforms to test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Document AI platform features &amp; capabilities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WEEKS 3-4  | 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 Mastering, Normalisation &amp; Test Preparation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06240"/>
          </a:xfrm>
          <a:prstGeom prst="roundRect">
            <a:avLst>
              <a:gd name="adj" fmla="val 3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12064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Week 3: AI Mastering &amp; Test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Process all songs through each AI platform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Experiment with settings (presets, loudness, tone)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Document all AI settings with screenshots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Record processing times &amp; limitations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Export AI masters in matching formats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Design listening test methodology (ABX/MUSHRA)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Define scoring criteria (clarity, punch, warmth, etc.)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Plan Likert scale (1-10) evaluation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06240"/>
          </a:xfrm>
          <a:prstGeom prst="roundRect">
            <a:avLst>
              <a:gd name="adj" fmla="val 3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12064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Week 4: Normalise &amp; Build Test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Collect all completed human masters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Loudness-normalise all tracks (e.g., -14 LUFS)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Trim tracks to identical start/end points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Assign anonymous labels (Version A, B, C...)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Set up listening test platform (webMUSHRA / Forms)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Upload all anonymised audio files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Create questionnaire with demographic questions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Run pilot test with 2-3 people &amp; refine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A00"/>
                </a:solidFill>
                <a:latin typeface="Calibri"/>
              </a:defRPr>
            </a:pPr>
            <a:r>
              <a:t>WEEKS 5-6  | 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Blind Listening Tests &amp; Early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06240"/>
          </a:xfrm>
          <a:prstGeom prst="roundRect">
            <a:avLst>
              <a:gd name="adj" fmla="val 3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120640" cy="36576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Week 5: Recruit &amp; Begin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Recruit from MMT classmates (trained ears)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Recruit from TCD music students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Engage professional musicians/engineers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Include general listeners (non-musicians)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Target 20-30 participants minimum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Distribute &amp; collect consent forms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Conduct listening test sessions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Keep sessions under 30-40 minutes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06240"/>
          </a:xfrm>
          <a:prstGeom prst="roundRect">
            <a:avLst>
              <a:gd name="adj" fmla="val 3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120640" cy="36576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Week 6: Complete Tests &amp; Early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Follow up with outstanding participants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Close test window &amp; finalise data collection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Clean &amp; validate all collected data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Remove incomplete / flag outlier responses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Calculate mean scores &amp; standard deviations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Compare human vs. AI across all criteria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Break down by participant group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Generate initial charts &amp; visualisations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WEEKS 7-8  |  ANALYSIS &amp;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Deep Analysis, Conclusions &amp;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06240"/>
          </a:xfrm>
          <a:prstGeom prst="roundRect">
            <a:avLst>
              <a:gd name="adj" fmla="val 3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12064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Week 7: Deep Analysis &amp; Writing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Overall preference analysis: Human vs. AI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Per-criterion breakdown (clarity, dynamics, etc.)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Genre-dependent performance analysis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Expert vs. non-expert perception differences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Platform-specific AI performance comparison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Statistical significance testing (t-test, ANOVA)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Optional: Spectral analysis (frequency, stereo width)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Begin writing: Intro, Literature Review, Methodology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20640" cy="4206240"/>
          </a:xfrm>
          <a:prstGeom prst="roundRect">
            <a:avLst>
              <a:gd name="adj" fmla="val 3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12064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Week 8: Conclusions &amp; Submission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Synthesise findings into clear conclusions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Has AI mastering reached professional quality?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Where does AI excel? Where does it fall short?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Implications for the music industry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Discuss limitations &amp; future directions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Complete Discussion &amp; Conclusions chapters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Write Abstract, compile references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Final proofread, format &amp; submit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TOOLS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Platforms, Software &amp; Analysis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206240"/>
          </a:xfrm>
          <a:prstGeom prst="roundRect">
            <a:avLst>
              <a:gd name="adj" fmla="val 3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29184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Mastering Platforms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LANDR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CloudBounce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eMastered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iZotope Ozone AI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BandLab Mastering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Dolby.io Media Mastering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291840" cy="4206240"/>
          </a:xfrm>
          <a:prstGeom prst="roundRect">
            <a:avLst>
              <a:gd name="adj" fmla="val 3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29184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Analysis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603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Python (librosa, scipy)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matplotlib / seaborn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SPSS or R for statistics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iZotope Insight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Voxengo SPAN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Excel / Google Sheets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291840" cy="4206240"/>
          </a:xfrm>
          <a:prstGeom prst="roundRect">
            <a:avLst>
              <a:gd name="adj" fmla="val 3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291840" cy="36576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Listening Test Platforms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603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webMUSHRA (open-source)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Google Forms + audio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Custom web application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Quality headphones / monitors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Treated listening room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Reference DAW (Logic/Reaper)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Identified Risks &amp; Contingency Plans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15600" cy="777240"/>
          </a:xfrm>
          <a:prstGeom prst="roundRect">
            <a:avLst>
              <a:gd name="adj" fmla="val 2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7772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Engineer Delays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Mastering engineers may not deliver on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965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Calibri"/>
              </a:defRPr>
            </a:pPr>
            <a:r>
              <a:t>Mitigation: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9659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Engage engineers early in Week 2; identify backup engineers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10515600" cy="777240"/>
          </a:xfrm>
          <a:prstGeom prst="roundRect">
            <a:avLst>
              <a:gd name="adj" fmla="val 2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743200"/>
            <a:ext cx="54864" cy="77724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Low Participant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Insufficient listeners weakens statistical significance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8803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A00"/>
                </a:solidFill>
                <a:latin typeface="Calibri"/>
              </a:defRPr>
            </a:pPr>
            <a:r>
              <a:t>Mitigation: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880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Start recruitment in Week 3; use social media &amp; course networks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10515600" cy="777240"/>
          </a:xfrm>
          <a:prstGeom prst="roundRect">
            <a:avLst>
              <a:gd name="adj" fmla="val 2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54864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749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Platform 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Tools may not support certain genres or formats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794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Calibri"/>
              </a:defRPr>
            </a:pPr>
            <a:r>
              <a:t>Mitigation: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794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Test platforms early in Week 2; have backup platforms ready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72000"/>
            <a:ext cx="10515600" cy="777240"/>
          </a:xfrm>
          <a:prstGeom prst="roundRect">
            <a:avLst>
              <a:gd name="adj" fmla="val 2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572000"/>
            <a:ext cx="54864" cy="777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 Platform Issues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983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Technical problems during listening sessions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7091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Calibri"/>
              </a:defRPr>
            </a:pPr>
            <a:r>
              <a:t>Mitigation: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4709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Pilot test in Week 4; prepare offline backup (USB + paper)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86400"/>
            <a:ext cx="10515600" cy="777240"/>
          </a:xfrm>
          <a:prstGeom prst="roundRect">
            <a:avLst>
              <a:gd name="adj" fmla="val 2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486400"/>
            <a:ext cx="54864" cy="77724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Ethics Approval Delays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897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Late approval blocks participant testing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6235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9FF"/>
                </a:solidFill>
                <a:latin typeface="Calibri"/>
              </a:defRPr>
            </a:pPr>
            <a:r>
              <a:t>Mitigation: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5623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Submit ethics application in Week 1; follow up proactively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4572000"/>
            <a:ext cx="2743200" cy="2743200"/>
          </a:xfrm>
          <a:prstGeom prst="ellipse">
            <a:avLst/>
          </a:prstGeom>
          <a:solidFill>
            <a:srgbClr val="7C3AED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"/>
            <a:ext cx="3200400" cy="3200400"/>
          </a:xfrm>
          <a:prstGeom prst="ellipse">
            <a:avLst/>
          </a:prstGeom>
          <a:solidFill>
            <a:srgbClr val="00D4AA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200400"/>
            <a:ext cx="21031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Michael Adams  |  MSc Music &amp; Media Technologies  |  Trinity College Dublin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